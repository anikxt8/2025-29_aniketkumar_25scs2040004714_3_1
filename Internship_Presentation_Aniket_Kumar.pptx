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Greet the mentor, introduce yourself, and state the title of your engagement. Mention you have been deployed on Aon's account through Relevance Lab since July 2026.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agenda quickly -- six sections, roughly ten minutes total.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Relevance Lab is the employer; Aon is the client account I'm deployed on. Mention the quality/recognition points briefly, then pivot to Aon's scale.</a:t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the operational risk in plain terms before introducing your own objectives on the next slide.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Six objectives -- read them out briskly, they are self-explanatory on screen.</a:t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clear about the boundary of a trainee role -- this shows maturity and self-awareness to the mentor.</a:t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the tools quickly -- ADUC and PowerShell are the two worth pausing on since they show technical depth.</a:t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left to right along the top row, then down and right to left along the bottom row -- a full closed loop from request to audit.</a:t>
            </a:r>
            <a:endParaRPr/>
          </a:p>
        </p:txBody>
      </p:sp>
      <p:sp>
        <p:nvSpPr>
          <p:cNvPr id="195" name="Google Shape;1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this as your personal daily routine -- it demonstrates ownership of the process, not just tool knowledge.</a:t>
            </a:r>
            <a:endParaRPr/>
          </a:p>
        </p:txBody>
      </p:sp>
      <p:sp>
        <p:nvSpPr>
          <p:cNvPr id="228" name="Google Shape;2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the content section on a confident, forward-looking note before the thank-you slide.</a:t>
            </a:r>
            <a:endParaRPr/>
          </a:p>
        </p:txBody>
      </p:sp>
      <p:sp>
        <p:nvSpPr>
          <p:cNvPr id="261" name="Google Shape;2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Invite the mentor's questions. Have the report handy in case they want to see supporting detail.</a:t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solidFill>
            <a:srgbClr val="162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966960" y="-548640"/>
            <a:ext cx="2926080" cy="292608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548640"/>
            <a:ext cx="777240" cy="7772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073" y="719633"/>
            <a:ext cx="435254" cy="43525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/>
        </p:nvSpPr>
        <p:spPr>
          <a:xfrm>
            <a:off x="640080" y="16459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A8"/>
                </a:solidFill>
                <a:latin typeface="Calibri"/>
                <a:ea typeface="Calibri"/>
                <a:cs typeface="Calibri"/>
                <a:sym typeface="Calibri"/>
              </a:rPr>
              <a:t>MCA INDUSTRY ENGAGEMENT PRESENTATION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0080" y="2057400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User Access Management Operations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 Cyber Security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658368" y="3977640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 txBox="1"/>
          <p:nvPr/>
        </p:nvSpPr>
        <p:spPr>
          <a:xfrm>
            <a:off x="640080" y="420624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4F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7E4F5"/>
                </a:solidFill>
                <a:latin typeface="Calibri"/>
                <a:ea typeface="Calibri"/>
                <a:cs typeface="Calibri"/>
                <a:sym typeface="Calibri"/>
              </a:rPr>
              <a:t>Presented by 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Aniket Kumar</a:t>
            </a:r>
            <a:r>
              <a:rPr b="0" i="0" lang="en-US" sz="1500" u="none" cap="none" strike="noStrike">
                <a:solidFill>
                  <a:srgbClr val="D7E4F5"/>
                </a:solidFill>
                <a:latin typeface="Calibri"/>
                <a:ea typeface="Calibri"/>
                <a:cs typeface="Calibri"/>
                <a:sym typeface="Calibri"/>
              </a:rPr>
              <a:t>   |   Roll No. 25SCS2040002714   |   MCA, Batch 2025-29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640080" y="4590288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4F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7E4F5"/>
                </a:solidFill>
                <a:latin typeface="Calibri"/>
                <a:ea typeface="Calibri"/>
                <a:cs typeface="Calibri"/>
                <a:sym typeface="Calibri"/>
              </a:rPr>
              <a:t>Project Guide: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Gaurav Kumar</a:t>
            </a:r>
            <a:r>
              <a:rPr b="0" i="0" lang="en-US" sz="1500" u="none" cap="none" strike="noStrike">
                <a:solidFill>
                  <a:srgbClr val="D7E4F5"/>
                </a:solidFill>
                <a:latin typeface="Calibri"/>
                <a:ea typeface="Calibri"/>
                <a:cs typeface="Calibri"/>
                <a:sym typeface="Calibri"/>
              </a:rPr>
              <a:t>   |   School of Computer Science and Engineering, IILM University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/>
        </p:nvSpPr>
        <p:spPr>
          <a:xfrm>
            <a:off x="548640" y="420624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1508760"/>
            <a:ext cx="521208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04672" y="1933956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804672" y="193395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554480" y="1508760"/>
            <a:ext cx="4023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Organisation Profile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217920" y="1508760"/>
            <a:ext cx="521208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73952" y="1933956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6473952" y="193395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7223760" y="1508760"/>
            <a:ext cx="4023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3246120"/>
            <a:ext cx="521208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04672" y="3671316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804672" y="36713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554480" y="3246120"/>
            <a:ext cx="4023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Objectives &amp; Scope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217920" y="3246120"/>
            <a:ext cx="521208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473952" y="3671316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6473952" y="367131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7223760" y="3246120"/>
            <a:ext cx="4023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Tools &amp; Architecture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4983480"/>
            <a:ext cx="521208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804672" y="5408676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 txBox="1"/>
          <p:nvPr/>
        </p:nvSpPr>
        <p:spPr>
          <a:xfrm>
            <a:off x="804672" y="54086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1554480" y="4983480"/>
            <a:ext cx="4023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217920" y="4983480"/>
            <a:ext cx="5212080" cy="1417320"/>
          </a:xfrm>
          <a:prstGeom prst="roundRect">
            <a:avLst>
              <a:gd fmla="val 580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473952" y="5408676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6473952" y="540867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223760" y="4983480"/>
            <a:ext cx="40233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Outcomes &amp; Learnings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/>
        </p:nvSpPr>
        <p:spPr>
          <a:xfrm>
            <a:off x="548640" y="420624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Where I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fmla="val 1837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299" y="20281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 txBox="1"/>
          <p:nvPr/>
        </p:nvSpPr>
        <p:spPr>
          <a:xfrm>
            <a:off x="1691640" y="18745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Relevance Lab Technologies Pvt. Ltd.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868680" y="26060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Formerly CIGNEX Technologies Private Limited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868680" y="3017520"/>
            <a:ext cx="4663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First &amp; only Indian firm to win the International Asia Pacific Quality Award (IAPQA) in Services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Great Place to Work-certified, 4 consecutive years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Certified a Safe Place to Work by Rainmaker Training Solutions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Best Software Company of Gujarat — GESIA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Recognised as a dedicated Open-Source System Integrator by Gartner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217920" y="1554480"/>
            <a:ext cx="5303520" cy="4480560"/>
          </a:xfrm>
          <a:prstGeom prst="roundRect">
            <a:avLst>
              <a:gd fmla="val 1837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1579" y="202813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/>
          <p:nvPr/>
        </p:nvSpPr>
        <p:spPr>
          <a:xfrm>
            <a:off x="7360920" y="1874520"/>
            <a:ext cx="3931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Aon plc  (Client Organisation)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6537960" y="26060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Leading global professional services firm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6537960" y="3017520"/>
            <a:ext cx="46634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Operates across 120+ countries with tens of thousands of colleagues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Two capability pillars: Risk Capital and Human Capital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Advises clients on insurance, reinsurance, retirement &amp; health solutions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My team supports Aon's internal IT &amp; Cyber Security operations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20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Char char="●"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Direct exposure to enterprise-scale access governance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99" y="58475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 txBox="1"/>
          <p:nvPr/>
        </p:nvSpPr>
        <p:spPr>
          <a:xfrm>
            <a:off x="1280160" y="420624"/>
            <a:ext cx="103628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Why User Access Management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548640" y="1600200"/>
            <a:ext cx="60350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A global organisation of Aon's scale runs thousands of applications used by a constantly changing population of employees, contractors, and vendors across 120+ countries. Left unmanaged, access requests become slow, inconsistently reviewed, and hard to audit — opening the door to unauthorised access and compliance risk.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548640" y="448056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1" lang="en-US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The UAM team exists to close this gap — verifying, actioning, and auditing every access change within SLA.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949440" y="1600200"/>
            <a:ext cx="470916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7205472" y="1819656"/>
            <a:ext cx="128016" cy="128016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7452360" y="1783080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Privilege Creep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7452360" y="2167128"/>
            <a:ext cx="3977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Users accumulate excess access over time if unchecked.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949440" y="3227832"/>
            <a:ext cx="470916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7205472" y="3447288"/>
            <a:ext cx="128016" cy="128016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7452360" y="3410712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Slow On/Off-boarding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452360" y="3794760"/>
            <a:ext cx="3977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Manual processes delay access grants and revocations.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949440" y="4855464"/>
            <a:ext cx="470916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7205472" y="5074920"/>
            <a:ext cx="128016" cy="128016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7452360" y="5038344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Audit &amp; Compliance Risk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452360" y="5422392"/>
            <a:ext cx="3977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Untracked changes fail security reviews and regulations.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99" y="58475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 txBox="1"/>
          <p:nvPr/>
        </p:nvSpPr>
        <p:spPr>
          <a:xfrm>
            <a:off x="1280160" y="420624"/>
            <a:ext cx="103628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My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55448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777240" y="1988820"/>
            <a:ext cx="502920" cy="50292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20894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 txBox="1"/>
          <p:nvPr/>
        </p:nvSpPr>
        <p:spPr>
          <a:xfrm>
            <a:off x="1417320" y="16916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Gain hands-on exposure to enterprise IAM / UAM operations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217920" y="155448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446520" y="1988820"/>
            <a:ext cx="502920" cy="50292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20894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7"/>
          <p:cNvSpPr txBox="1"/>
          <p:nvPr/>
        </p:nvSpPr>
        <p:spPr>
          <a:xfrm>
            <a:off x="7086600" y="16916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Apply least privilege, RBAC &amp; segregation of duties correctly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48640" y="320040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77240" y="3634740"/>
            <a:ext cx="502920" cy="50292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37353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 txBox="1"/>
          <p:nvPr/>
        </p:nvSpPr>
        <p:spPr>
          <a:xfrm>
            <a:off x="1417320" y="333756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Process requests within defined SLA timelines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217920" y="320040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446520" y="3634740"/>
            <a:ext cx="502920" cy="50292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37353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 txBox="1"/>
          <p:nvPr/>
        </p:nvSpPr>
        <p:spPr>
          <a:xfrm>
            <a:off x="7086600" y="333756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Build proficiency in AD, ADUC &amp; PowerShell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8640" y="484632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777240" y="5280660"/>
            <a:ext cx="502920" cy="50292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53812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 txBox="1"/>
          <p:nvPr/>
        </p:nvSpPr>
        <p:spPr>
          <a:xfrm>
            <a:off x="1417320" y="498348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Collaborate effectively within a live incident-response team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217920" y="484632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446520" y="5280660"/>
            <a:ext cx="502920" cy="50292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53812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7086600" y="498348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Document learnings to bridge MCA theory with practice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99" y="58475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/>
        </p:nvSpPr>
        <p:spPr>
          <a:xfrm>
            <a:off x="1280160" y="420624"/>
            <a:ext cx="103628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Scope of My Role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1554480"/>
            <a:ext cx="5303520" cy="3429000"/>
          </a:xfrm>
          <a:prstGeom prst="roundRect">
            <a:avLst>
              <a:gd fmla="val 2400" name="adj"/>
            </a:avLst>
          </a:prstGeom>
          <a:solidFill>
            <a:srgbClr val="E5F8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67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967F"/>
                </a:solidFill>
                <a:latin typeface="Calibri"/>
                <a:ea typeface="Calibri"/>
                <a:cs typeface="Calibri"/>
                <a:sym typeface="Calibri"/>
              </a:rPr>
              <a:t>IN 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 txBox="1"/>
          <p:nvPr/>
        </p:nvSpPr>
        <p:spPr>
          <a:xfrm>
            <a:off x="822960" y="2286000"/>
            <a:ext cx="4754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Create, modify, disable &amp; delete AD user accounts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Add/remove group memberships for app access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Password resets &amp; account unlocks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Validate managerial / data-owner approval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Prioritise queue to prevent SLA breach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217920" y="1554480"/>
            <a:ext cx="5303520" cy="3429000"/>
          </a:xfrm>
          <a:prstGeom prst="roundRect">
            <a:avLst>
              <a:gd fmla="val 2400" name="adj"/>
            </a:avLst>
          </a:prstGeom>
          <a:solidFill>
            <a:srgbClr val="F1F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6492240" y="2286000"/>
            <a:ext cx="4754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444B57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Designing new IAM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444B57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Setting organisation-wide access policy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444B57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Enterprise tool procurement decisions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400"/>
              </a:spcBef>
              <a:spcAft>
                <a:spcPts val="0"/>
              </a:spcAft>
              <a:buClr>
                <a:srgbClr val="444B57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444B57"/>
                </a:solidFill>
                <a:latin typeface="Calibri"/>
                <a:ea typeface="Calibri"/>
                <a:cs typeface="Calibri"/>
                <a:sym typeface="Calibri"/>
              </a:rPr>
              <a:t>Handled by senior architecture / governance teams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48640" y="52578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 short: I operationalise access decisions within a trainee's defined authority — governance and architecture sit with senior teams.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99" y="58475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9"/>
          <p:cNvSpPr txBox="1"/>
          <p:nvPr/>
        </p:nvSpPr>
        <p:spPr>
          <a:xfrm>
            <a:off x="1280160" y="420624"/>
            <a:ext cx="103628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Tools I Use Daily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822960" y="246888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Aon Service Portal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22960" y="29260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ITSM ticket intake &amp; SLA tracking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343400" y="160020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4617720" y="1874520"/>
            <a:ext cx="457200" cy="457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461772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617720" y="246888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Citrix Workspace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4617720" y="29260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Secure virtualised remote access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138160" y="160020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8412480" y="246888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Active Directory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8412480" y="29260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Central identity &amp; permissions store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48640" y="388620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822960" y="475488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ADUC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822960" y="52120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GUI console for user/group management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343400" y="388620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617720" y="4160520"/>
            <a:ext cx="457200" cy="457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4617720" y="4160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4617720" y="475488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Windows PowerShell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4617720" y="52120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Scripting bulk / repetitive changes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8138160" y="3886200"/>
            <a:ext cx="3520440" cy="2011680"/>
          </a:xfrm>
          <a:prstGeom prst="roundRect">
            <a:avLst>
              <a:gd fmla="val 4091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8412480" y="4160520"/>
            <a:ext cx="457200" cy="45720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8412480" y="4160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A8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0C2A8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8412480" y="4754880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SLA Dashboard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8412480" y="52120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Ticket ageing &amp; audit tracking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" name="Google Shape;19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99" y="58475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0"/>
          <p:cNvSpPr txBox="1"/>
          <p:nvPr/>
        </p:nvSpPr>
        <p:spPr>
          <a:xfrm>
            <a:off x="1280160" y="420624"/>
            <a:ext cx="103628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Access Request Lifecycle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48640" y="1783080"/>
            <a:ext cx="2533574" cy="1234440"/>
          </a:xfrm>
          <a:prstGeom prst="roundRect">
            <a:avLst>
              <a:gd fmla="val 5926" name="adj"/>
            </a:avLst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 txBox="1"/>
          <p:nvPr/>
        </p:nvSpPr>
        <p:spPr>
          <a:xfrm>
            <a:off x="658368" y="1874520"/>
            <a:ext cx="231411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 user raises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need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3402254" y="1783080"/>
            <a:ext cx="2533574" cy="1234440"/>
          </a:xfrm>
          <a:prstGeom prst="roundRect">
            <a:avLst>
              <a:gd fmla="val 5926" name="adj"/>
            </a:avLst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3511982" y="1874520"/>
            <a:ext cx="231411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Ticket logged 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Aon Service Portal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255868" y="1783080"/>
            <a:ext cx="2533574" cy="1234440"/>
          </a:xfrm>
          <a:prstGeom prst="roundRect">
            <a:avLst>
              <a:gd fmla="val 5926" name="adj"/>
            </a:avLst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6365596" y="1874520"/>
            <a:ext cx="231411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UAM analyst review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(SLA &amp; approval check)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9109481" y="1783080"/>
            <a:ext cx="2533574" cy="1234440"/>
          </a:xfrm>
          <a:prstGeom prst="roundRect">
            <a:avLst>
              <a:gd fmla="val 5926" name="adj"/>
            </a:avLst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9219209" y="1874520"/>
            <a:ext cx="231411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Manager / approver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sign-off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10"/>
          <p:cNvCxnSpPr/>
          <p:nvPr/>
        </p:nvCxnSpPr>
        <p:spPr>
          <a:xfrm>
            <a:off x="3082214" y="2400300"/>
            <a:ext cx="320040" cy="0"/>
          </a:xfrm>
          <a:prstGeom prst="straightConnector1">
            <a:avLst/>
          </a:prstGeom>
          <a:noFill/>
          <a:ln cap="flat" cmpd="sng" w="28575">
            <a:solidFill>
              <a:srgbClr val="5B7C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9" name="Google Shape;209;p10"/>
          <p:cNvCxnSpPr/>
          <p:nvPr/>
        </p:nvCxnSpPr>
        <p:spPr>
          <a:xfrm>
            <a:off x="5935828" y="2400300"/>
            <a:ext cx="320040" cy="0"/>
          </a:xfrm>
          <a:prstGeom prst="straightConnector1">
            <a:avLst/>
          </a:prstGeom>
          <a:noFill/>
          <a:ln cap="flat" cmpd="sng" w="28575">
            <a:solidFill>
              <a:srgbClr val="5B7C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0" name="Google Shape;210;p10"/>
          <p:cNvCxnSpPr/>
          <p:nvPr/>
        </p:nvCxnSpPr>
        <p:spPr>
          <a:xfrm>
            <a:off x="8789441" y="2400300"/>
            <a:ext cx="320040" cy="0"/>
          </a:xfrm>
          <a:prstGeom prst="straightConnector1">
            <a:avLst/>
          </a:prstGeom>
          <a:noFill/>
          <a:ln cap="flat" cmpd="sng" w="28575">
            <a:solidFill>
              <a:srgbClr val="5B7CA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1" name="Google Shape;211;p10"/>
          <p:cNvCxnSpPr/>
          <p:nvPr/>
        </p:nvCxnSpPr>
        <p:spPr>
          <a:xfrm>
            <a:off x="10376268" y="3017520"/>
            <a:ext cx="0" cy="1143000"/>
          </a:xfrm>
          <a:prstGeom prst="straightConnector1">
            <a:avLst/>
          </a:prstGeom>
          <a:noFill/>
          <a:ln cap="flat" cmpd="sng" w="28575">
            <a:solidFill>
              <a:srgbClr val="5B7C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2" name="Google Shape;212;p10"/>
          <p:cNvSpPr/>
          <p:nvPr/>
        </p:nvSpPr>
        <p:spPr>
          <a:xfrm>
            <a:off x="548640" y="4160520"/>
            <a:ext cx="2533574" cy="1234440"/>
          </a:xfrm>
          <a:prstGeom prst="roundRect">
            <a:avLst>
              <a:gd fmla="val 5926" name="adj"/>
            </a:avLst>
          </a:prstGeom>
          <a:solidFill>
            <a:srgbClr val="5B7C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658368" y="4251960"/>
            <a:ext cx="231411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 trail &amp; SLA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log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3402254" y="4160520"/>
            <a:ext cx="2533574" cy="1234440"/>
          </a:xfrm>
          <a:prstGeom prst="roundRect">
            <a:avLst>
              <a:gd fmla="val 5926" name="adj"/>
            </a:avLst>
          </a:prstGeom>
          <a:solidFill>
            <a:srgbClr val="2E7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3511982" y="4251960"/>
            <a:ext cx="231411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 &amp; ticket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closure on portal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255868" y="4160520"/>
            <a:ext cx="2533574" cy="1234440"/>
          </a:xfrm>
          <a:prstGeom prst="roundRect">
            <a:avLst>
              <a:gd fmla="val 5926" name="adj"/>
            </a:avLst>
          </a:prstGeom>
          <a:solidFill>
            <a:srgbClr val="2E7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6365596" y="4251960"/>
            <a:ext cx="231411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provisioned /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modified / revoked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9109481" y="4160520"/>
            <a:ext cx="2533574" cy="1234440"/>
          </a:xfrm>
          <a:prstGeom prst="roundRect">
            <a:avLst>
              <a:gd fmla="val 5926" name="adj"/>
            </a:avLst>
          </a:prstGeom>
          <a:solidFill>
            <a:srgbClr val="2E7D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9219209" y="4251960"/>
            <a:ext cx="231411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Executed via ADUC &amp;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PowerShell on 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0" name="Google Shape;220;p10"/>
          <p:cNvCxnSpPr/>
          <p:nvPr/>
        </p:nvCxnSpPr>
        <p:spPr>
          <a:xfrm>
            <a:off x="8789441" y="4777740"/>
            <a:ext cx="320040" cy="0"/>
          </a:xfrm>
          <a:prstGeom prst="straightConnector1">
            <a:avLst/>
          </a:prstGeom>
          <a:noFill/>
          <a:ln cap="flat" cmpd="sng" w="28575">
            <a:solidFill>
              <a:srgbClr val="5B7CA8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21" name="Google Shape;221;p10"/>
          <p:cNvCxnSpPr/>
          <p:nvPr/>
        </p:nvCxnSpPr>
        <p:spPr>
          <a:xfrm>
            <a:off x="5935828" y="4777740"/>
            <a:ext cx="320040" cy="0"/>
          </a:xfrm>
          <a:prstGeom prst="straightConnector1">
            <a:avLst/>
          </a:prstGeom>
          <a:noFill/>
          <a:ln cap="flat" cmpd="sng" w="28575">
            <a:solidFill>
              <a:srgbClr val="5B7CA8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22" name="Google Shape;222;p10"/>
          <p:cNvCxnSpPr/>
          <p:nvPr/>
        </p:nvCxnSpPr>
        <p:spPr>
          <a:xfrm>
            <a:off x="3082214" y="4777740"/>
            <a:ext cx="320040" cy="0"/>
          </a:xfrm>
          <a:prstGeom prst="straightConnector1">
            <a:avLst/>
          </a:prstGeom>
          <a:noFill/>
          <a:ln cap="flat" cmpd="sng" w="28575">
            <a:solidFill>
              <a:srgbClr val="5B7CA8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23" name="Google Shape;223;p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99" y="58475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1"/>
          <p:cNvSpPr txBox="1"/>
          <p:nvPr/>
        </p:nvSpPr>
        <p:spPr>
          <a:xfrm>
            <a:off x="1280160" y="420624"/>
            <a:ext cx="103628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How I Work, Day to 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1"/>
          <p:cNvCxnSpPr/>
          <p:nvPr/>
        </p:nvCxnSpPr>
        <p:spPr>
          <a:xfrm>
            <a:off x="2152612" y="1600200"/>
            <a:ext cx="2202104" cy="0"/>
          </a:xfrm>
          <a:prstGeom prst="straightConnector1">
            <a:avLst/>
          </a:prstGeom>
          <a:noFill/>
          <a:ln cap="flat" cmpd="sng" w="25400">
            <a:solidFill>
              <a:srgbClr val="D7E4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1"/>
          <p:cNvSpPr/>
          <p:nvPr/>
        </p:nvSpPr>
        <p:spPr>
          <a:xfrm>
            <a:off x="1512532" y="1280160"/>
            <a:ext cx="640080" cy="64008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1512532" y="1280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40080" y="2103120"/>
            <a:ext cx="2384984" cy="1965960"/>
          </a:xfrm>
          <a:prstGeom prst="roundRect">
            <a:avLst>
              <a:gd fmla="val 418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822960" y="2331720"/>
            <a:ext cx="2019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Review &amp; Prioritise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822960" y="3017520"/>
            <a:ext cx="20192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Scan the SLA queue; red/amber tickets first.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1"/>
          <p:cNvCxnSpPr/>
          <p:nvPr/>
        </p:nvCxnSpPr>
        <p:spPr>
          <a:xfrm>
            <a:off x="4994796" y="1600200"/>
            <a:ext cx="2202104" cy="0"/>
          </a:xfrm>
          <a:prstGeom prst="straightConnector1">
            <a:avLst/>
          </a:prstGeom>
          <a:noFill/>
          <a:ln cap="flat" cmpd="sng" w="25400">
            <a:solidFill>
              <a:srgbClr val="D7E4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11"/>
          <p:cNvSpPr/>
          <p:nvPr/>
        </p:nvSpPr>
        <p:spPr>
          <a:xfrm>
            <a:off x="4354716" y="1280160"/>
            <a:ext cx="640080" cy="64008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4354716" y="1280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482264" y="2103120"/>
            <a:ext cx="2384984" cy="1965960"/>
          </a:xfrm>
          <a:prstGeom prst="roundRect">
            <a:avLst>
              <a:gd fmla="val 418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3665144" y="2331720"/>
            <a:ext cx="2019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Verify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3665144" y="3017520"/>
            <a:ext cx="20192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Confirm approval &amp; apply least privilege.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11"/>
          <p:cNvCxnSpPr/>
          <p:nvPr/>
        </p:nvCxnSpPr>
        <p:spPr>
          <a:xfrm>
            <a:off x="7836980" y="1600200"/>
            <a:ext cx="2202104" cy="0"/>
          </a:xfrm>
          <a:prstGeom prst="straightConnector1">
            <a:avLst/>
          </a:prstGeom>
          <a:noFill/>
          <a:ln cap="flat" cmpd="sng" w="25400">
            <a:solidFill>
              <a:srgbClr val="D7E4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1"/>
          <p:cNvSpPr/>
          <p:nvPr/>
        </p:nvSpPr>
        <p:spPr>
          <a:xfrm>
            <a:off x="7196900" y="1280160"/>
            <a:ext cx="640080" cy="64008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7196900" y="1280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324448" y="2103120"/>
            <a:ext cx="2384984" cy="1965960"/>
          </a:xfrm>
          <a:prstGeom prst="roundRect">
            <a:avLst>
              <a:gd fmla="val 418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6507328" y="2331720"/>
            <a:ext cx="2019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6507328" y="3017520"/>
            <a:ext cx="20192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Action via ADUC (ad-hoc) or PowerShell (bulk).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0039083" y="1280160"/>
            <a:ext cx="640080" cy="640080"/>
          </a:xfrm>
          <a:prstGeom prst="ellipse">
            <a:avLst/>
          </a:prstGeom>
          <a:solidFill>
            <a:srgbClr val="0096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10039083" y="12801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9166631" y="2103120"/>
            <a:ext cx="2384984" cy="1965960"/>
          </a:xfrm>
          <a:prstGeom prst="roundRect">
            <a:avLst>
              <a:gd fmla="val 4186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9349511" y="2331720"/>
            <a:ext cx="2019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F1B3D"/>
                </a:solidFill>
                <a:latin typeface="Calibri"/>
                <a:ea typeface="Calibri"/>
                <a:cs typeface="Calibri"/>
                <a:sym typeface="Calibri"/>
              </a:rPr>
              <a:t>Close &amp; Audit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9349511" y="3017520"/>
            <a:ext cx="2019224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Validate, log resolution, close within SLA.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99" y="58475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2"/>
          <p:cNvSpPr txBox="1"/>
          <p:nvPr/>
        </p:nvSpPr>
        <p:spPr>
          <a:xfrm>
            <a:off x="1280160" y="420624"/>
            <a:ext cx="103628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B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1B3D"/>
                </a:solidFill>
                <a:latin typeface="Cambria"/>
                <a:ea typeface="Cambria"/>
                <a:cs typeface="Cambria"/>
                <a:sym typeface="Cambria"/>
              </a:rPr>
              <a:t>What I'm Taking Away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48640" y="155448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777240" y="1988820"/>
            <a:ext cx="502920" cy="50292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20894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 txBox="1"/>
          <p:nvPr/>
        </p:nvSpPr>
        <p:spPr>
          <a:xfrm>
            <a:off x="1417320" y="16916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Strong SLA-adherence discipline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217920" y="155448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6446520" y="1988820"/>
            <a:ext cx="502920" cy="50292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20894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 txBox="1"/>
          <p:nvPr/>
        </p:nvSpPr>
        <p:spPr>
          <a:xfrm>
            <a:off x="7086600" y="169164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Reduced access risk via least privilege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48640" y="320040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777240" y="3634740"/>
            <a:ext cx="502920" cy="50292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37353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2"/>
          <p:cNvSpPr txBox="1"/>
          <p:nvPr/>
        </p:nvSpPr>
        <p:spPr>
          <a:xfrm>
            <a:off x="1417320" y="333756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Real proficiency in AD, ADUC &amp; PowerShell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217920" y="320040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6446520" y="3634740"/>
            <a:ext cx="502920" cy="50292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37353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 txBox="1"/>
          <p:nvPr/>
        </p:nvSpPr>
        <p:spPr>
          <a:xfrm>
            <a:off x="7086600" y="333756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Working grasp of SoD &amp; audit-readiness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48640" y="484632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777240" y="5280660"/>
            <a:ext cx="502920" cy="50292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4" name="Google Shape;28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824" y="53812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2"/>
          <p:cNvSpPr txBox="1"/>
          <p:nvPr/>
        </p:nvSpPr>
        <p:spPr>
          <a:xfrm>
            <a:off x="1417320" y="498348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Sharper stakeholder communication under pressure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217920" y="4846320"/>
            <a:ext cx="5212080" cy="1371600"/>
          </a:xfrm>
          <a:prstGeom prst="roundRect">
            <a:avLst>
              <a:gd fmla="val 6000" name="adj"/>
            </a:avLst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6446520" y="5280660"/>
            <a:ext cx="502920" cy="50292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8" name="Google Shape;2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53812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2"/>
          <p:cNvSpPr txBox="1"/>
          <p:nvPr/>
        </p:nvSpPr>
        <p:spPr>
          <a:xfrm>
            <a:off x="7086600" y="498348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A practical bridge from MCA theory to Cyber Security practice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ANIKET KUMAR  |  USER ACCESS MANAGEMENT AT AON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D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/>
          <p:nvPr/>
        </p:nvSpPr>
        <p:spPr>
          <a:xfrm>
            <a:off x="-1463040" y="3931920"/>
            <a:ext cx="4754880" cy="4754880"/>
          </a:xfrm>
          <a:prstGeom prst="ellipse">
            <a:avLst/>
          </a:prstGeom>
          <a:solidFill>
            <a:srgbClr val="162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9242" y="159791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3"/>
          <p:cNvSpPr txBox="1"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E4F5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D7E4F5"/>
                </a:solidFill>
                <a:latin typeface="Calibri"/>
                <a:ea typeface="Calibri"/>
                <a:cs typeface="Calibri"/>
                <a:sym typeface="Calibri"/>
              </a:rPr>
              <a:t>Questions &amp; feedback welcome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13"/>
          <p:cNvCxnSpPr/>
          <p:nvPr/>
        </p:nvCxnSpPr>
        <p:spPr>
          <a:xfrm>
            <a:off x="4907128" y="4114800"/>
            <a:ext cx="2377440" cy="0"/>
          </a:xfrm>
          <a:prstGeom prst="straightConnector1">
            <a:avLst/>
          </a:prstGeom>
          <a:noFill/>
          <a:ln cap="flat" cmpd="sng" w="25400">
            <a:solidFill>
              <a:srgbClr val="00C2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13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E4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E4F5"/>
                </a:solidFill>
                <a:latin typeface="Calibri"/>
                <a:ea typeface="Calibri"/>
                <a:cs typeface="Calibri"/>
                <a:sym typeface="Calibri"/>
              </a:rPr>
              <a:t>Aniket Kumar   •   Roll No. 25SCS2040002714   •   MCA, Batch 2025-29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0" y="4681728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E4F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7E4F5"/>
                </a:solidFill>
                <a:latin typeface="Calibri"/>
                <a:ea typeface="Calibri"/>
                <a:cs typeface="Calibri"/>
                <a:sym typeface="Calibri"/>
              </a:rPr>
              <a:t>Guide: Dr. Gaurav Kumar   •   IILM University, Greater Noida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